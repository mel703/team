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313" r:id="rId2"/>
    <p:sldId id="317" r:id="rId3"/>
    <p:sldId id="315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399" autoAdjust="0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82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566400" cy="4089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800" dirty="0">
                <a:solidFill>
                  <a:srgbClr val="1F29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16034"/>
            <a:ext cx="10566400" cy="42291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F29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566400" cy="4089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800" dirty="0">
                <a:solidFill>
                  <a:srgbClr val="1F29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16034"/>
            <a:ext cx="10566400" cy="42291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F29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78C9206-F863-467B-9F05-CD0BC8D10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908" y="292607"/>
            <a:ext cx="6402867" cy="5825559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2B5CA8"/>
          </a:solidFill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812800" y="603504"/>
            <a:ext cx="10883392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2B5CA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Участник 2 · Широкова Ю. С. ·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932688"/>
            <a:ext cx="10883392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900"/>
              </a:lnSpc>
            </a:pPr>
            <a:r>
              <a:rPr lang="ru-RU" sz="3400" b="1" dirty="0"/>
              <a:t>Ход работы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0082" y="1888399"/>
            <a:ext cx="5621347" cy="13310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72720" indent="-172720">
              <a:lnSpc>
                <a:spcPts val="2155"/>
              </a:lnSpc>
              <a:buSzPct val="100000"/>
              <a:buChar char="•"/>
            </a:pPr>
            <a:r>
              <a:rPr lang="ru-RU" sz="1550" b="1" dirty="0">
                <a:solidFill>
                  <a:srgbClr val="1F29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Данные валидны. </a:t>
            </a:r>
          </a:p>
          <a:p>
            <a:pPr marL="172720" indent="-172720">
              <a:lnSpc>
                <a:spcPts val="2155"/>
              </a:lnSpc>
              <a:buSzPct val="100000"/>
              <a:buChar char="•"/>
            </a:pPr>
            <a:r>
              <a:rPr lang="ru-RU" sz="1550" b="1" dirty="0">
                <a:solidFill>
                  <a:srgbClr val="1F29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Из </a:t>
            </a:r>
            <a:r>
              <a:rPr lang="ru-RU" sz="1550" b="1" dirty="0" err="1">
                <a:solidFill>
                  <a:srgbClr val="1F29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датасета</a:t>
            </a:r>
            <a:r>
              <a:rPr lang="ru-RU" sz="1550" b="1" dirty="0">
                <a:solidFill>
                  <a:srgbClr val="1F29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удалено 17 избыточных признаков (столбцов), общая информативность сохранена. Сформирован файл </a:t>
            </a:r>
            <a:r>
              <a:rPr lang="en-US" sz="1550" b="1" dirty="0">
                <a:solidFill>
                  <a:srgbClr val="1F29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data_reduced.csv</a:t>
            </a:r>
            <a:endParaRPr lang="ru-RU" sz="1550" dirty="0">
              <a:solidFill>
                <a:srgbClr val="1F2933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B7280"/>
                </a:solidFill>
                <a:latin typeface="Arial" panose="020B0604020202020204"/>
              </a:rPr>
              <a:t>14</a:t>
            </a: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3979EBD2-5107-407F-AB77-8686BF59A96C}"/>
              </a:ext>
            </a:extLst>
          </p:cNvPr>
          <p:cNvGrpSpPr/>
          <p:nvPr/>
        </p:nvGrpSpPr>
        <p:grpSpPr>
          <a:xfrm>
            <a:off x="186046" y="3001201"/>
            <a:ext cx="5614483" cy="3870096"/>
            <a:chOff x="186046" y="2868201"/>
            <a:chExt cx="5614483" cy="3870096"/>
          </a:xfrm>
        </p:grpSpPr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DC28BA35-10E3-4AB8-9DF3-C71CE7FE1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6046" y="2868201"/>
              <a:ext cx="4536779" cy="3057111"/>
            </a:xfrm>
            <a:prstGeom prst="rect">
              <a:avLst/>
            </a:prstGeom>
          </p:spPr>
        </p:pic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id="{010802ED-5292-4D3D-BA31-25B59F48FF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22997" y="3902895"/>
              <a:ext cx="4177532" cy="283540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2B5CA8"/>
          </a:solidFill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812800" y="603504"/>
            <a:ext cx="10883392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2B5CA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Участник 2 · Широкова Ю. С. ·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932688"/>
            <a:ext cx="10883392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900"/>
              </a:lnSpc>
            </a:pPr>
            <a:r>
              <a:rPr lang="ru-RU" sz="3400" b="1" dirty="0"/>
              <a:t>Ход работы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0082" y="1605772"/>
            <a:ext cx="4371053" cy="154060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72720" indent="-172720">
              <a:lnSpc>
                <a:spcPts val="2155"/>
              </a:lnSpc>
              <a:buSzPct val="100000"/>
              <a:buChar char="•"/>
            </a:pPr>
            <a:r>
              <a:rPr lang="ru-RU" sz="1550" b="1" dirty="0">
                <a:solidFill>
                  <a:srgbClr val="1F29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Данные проанализированы на визуализациях </a:t>
            </a:r>
            <a:r>
              <a:rPr lang="en-US" sz="1550" b="1" dirty="0">
                <a:solidFill>
                  <a:srgbClr val="1F29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PCA, UMAP </a:t>
            </a:r>
            <a:r>
              <a:rPr lang="ru-RU" sz="1550" b="1" dirty="0">
                <a:solidFill>
                  <a:srgbClr val="1F29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и </a:t>
            </a:r>
            <a:r>
              <a:rPr lang="en-US" sz="1550" b="1" dirty="0">
                <a:solidFill>
                  <a:srgbClr val="1F29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t-SNE</a:t>
            </a:r>
            <a:endParaRPr lang="ru-RU" sz="1550" b="1" dirty="0">
              <a:solidFill>
                <a:srgbClr val="1F2933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172720" indent="-172720">
              <a:lnSpc>
                <a:spcPts val="2155"/>
              </a:lnSpc>
              <a:buSzPct val="100000"/>
              <a:buChar char="•"/>
            </a:pPr>
            <a:r>
              <a:rPr lang="ru-RU" sz="1550" b="1" dirty="0">
                <a:solidFill>
                  <a:srgbClr val="1F29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Вывод: </a:t>
            </a:r>
            <a:r>
              <a:rPr lang="ru-RU" sz="1550" dirty="0">
                <a:solidFill>
                  <a:srgbClr val="1F2933"/>
                </a:solidFill>
                <a:latin typeface="Arial" panose="020B0604020202020204" pitchFamily="34" charset="0"/>
                <a:cs typeface="Arial" panose="020B0604020202020204" pitchFamily="34" charset="-120"/>
              </a:rPr>
              <a:t>данные имеют сложную нелинейную структуру, существуют классы состояний с уникальными токовыми сигнатурами.</a:t>
            </a:r>
            <a:endParaRPr lang="en-US" sz="1550" dirty="0">
              <a:solidFill>
                <a:srgbClr val="1F2933"/>
              </a:solidFill>
              <a:latin typeface="Arial" panose="020B0604020202020204" pitchFamily="34" charset="0"/>
              <a:cs typeface="Arial" panose="020B0604020202020204" pitchFamily="34" charset="-12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B7280"/>
                </a:solidFill>
                <a:latin typeface="Arial" panose="020B0604020202020204"/>
              </a:rPr>
              <a:t>14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416BFFA-DBC2-41EC-AD3C-61F177EBE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673" y="91443"/>
            <a:ext cx="5665126" cy="411348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0892A01-3B97-4AFA-8218-71C7642DD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47" y="3944868"/>
            <a:ext cx="4003922" cy="292089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0A7EC45-B0DA-431C-9E7B-598DF94044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270" y="4003138"/>
            <a:ext cx="4046118" cy="2920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233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2B5CA8"/>
          </a:solidFill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812800" y="603504"/>
            <a:ext cx="10883392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2B5CA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Участник 2 · Широкова Ю. С. · 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932688"/>
            <a:ext cx="10883392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900"/>
              </a:lnSpc>
            </a:pPr>
            <a:r>
              <a:rPr lang="ru-RU" sz="3400" b="1" dirty="0"/>
              <a:t>Проверка гипотез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0082" y="1645920"/>
            <a:ext cx="10778490" cy="4547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414020" indent="-414020">
              <a:lnSpc>
                <a:spcPts val="2840"/>
              </a:lnSpc>
              <a:buSzPct val="100000"/>
              <a:buFont typeface="Arial" panose="020B0604020202020204" pitchFamily="34" charset="0"/>
              <a:buChar char="•"/>
            </a:pPr>
            <a:r>
              <a:rPr lang="ru-RU" sz="2050" b="1" dirty="0">
                <a:solidFill>
                  <a:srgbClr val="1F29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Г4: </a:t>
            </a:r>
            <a:r>
              <a:rPr lang="ru-RU" sz="2050" dirty="0">
                <a:solidFill>
                  <a:srgbClr val="1F29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первые 2 главные компоненты (PCA) объясняют не меньше 50 % разброса данных. </a:t>
            </a:r>
          </a:p>
          <a:p>
            <a:pPr marL="871220" lvl="1" indent="-414020">
              <a:lnSpc>
                <a:spcPts val="2840"/>
              </a:lnSpc>
              <a:buSzPct val="100000"/>
              <a:buFont typeface="Arial" panose="020B0604020202020204" pitchFamily="34" charset="0"/>
              <a:buChar char="•"/>
            </a:pPr>
            <a:r>
              <a:rPr lang="ru-RU" dirty="0"/>
              <a:t>Суммарная объясненная дисперсия для двух первых компонент составила 31.1%.</a:t>
            </a:r>
          </a:p>
          <a:p>
            <a:pPr marL="871220" lvl="1" indent="-414020">
              <a:lnSpc>
                <a:spcPts val="2840"/>
              </a:lnSpc>
              <a:buSzPct val="100000"/>
              <a:buFont typeface="Arial" panose="020B0604020202020204" pitchFamily="34" charset="0"/>
              <a:buChar char="•"/>
            </a:pPr>
            <a:r>
              <a:rPr lang="ru-RU" sz="2050" dirty="0">
                <a:solidFill>
                  <a:srgbClr val="1F29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31.3% </a:t>
            </a:r>
            <a:r>
              <a:rPr lang="en-US" sz="2050" dirty="0">
                <a:solidFill>
                  <a:srgbClr val="1F29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&lt; 50%</a:t>
            </a:r>
          </a:p>
          <a:p>
            <a:pPr marL="871220" lvl="1" indent="-414020">
              <a:lnSpc>
                <a:spcPts val="2840"/>
              </a:lnSpc>
              <a:buSzPct val="100000"/>
              <a:buFont typeface="Arial" panose="020B0604020202020204" pitchFamily="34" charset="0"/>
              <a:buChar char="•"/>
            </a:pPr>
            <a:r>
              <a:rPr lang="ru-RU" sz="2050" dirty="0">
                <a:solidFill>
                  <a:srgbClr val="1F29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гипотеза </a:t>
            </a:r>
            <a:r>
              <a:rPr lang="ru-RU" sz="2050" b="1" dirty="0">
                <a:solidFill>
                  <a:srgbClr val="1F29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ОПРОВЕРГНУТА</a:t>
            </a:r>
            <a:endParaRPr lang="ru-RU" sz="2050" dirty="0">
              <a:solidFill>
                <a:srgbClr val="1F2933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75720" y="6473952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6B7280"/>
                </a:solidFill>
                <a:latin typeface="Arial" panose="020B0604020202020204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ЛР 1: анализ лог-файла интернет-магазина">
  <a:themeElements>
    <a:clrScheme name="ЛР 1: анализ лог-файла интернет-магазина">
      <a:dk1>
        <a:srgbClr val="1F2933"/>
      </a:dk1>
      <a:lt1>
        <a:srgbClr val="FAFAF7"/>
      </a:lt1>
      <a:dk2>
        <a:srgbClr val="565D64"/>
      </a:dk2>
      <a:lt2>
        <a:srgbClr val="E4E5E3"/>
      </a:lt2>
      <a:accent1>
        <a:srgbClr val="2B5CA8"/>
      </a:accent1>
      <a:accent2>
        <a:srgbClr val="5B8FD6"/>
      </a:accent2>
      <a:accent3>
        <a:srgbClr val="8FB4E8"/>
      </a:accent3>
      <a:accent4>
        <a:srgbClr val="C9D3E0"/>
      </a:accent4>
      <a:accent5>
        <a:srgbClr val="4A5568"/>
      </a:accent5>
      <a:accent6>
        <a:srgbClr val="9AA0A6"/>
      </a:accent6>
      <a:hlink>
        <a:srgbClr val="0563C1"/>
      </a:hlink>
      <a:folHlink>
        <a:srgbClr val="954F72"/>
      </a:folHlink>
    </a:clrScheme>
    <a:fontScheme name="ЛР 1: анализ лог-файла интернет-магазина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ЛР 1: анализ лог-файла интернет-магазина">
  <a:themeElements>
    <a:clrScheme name="ЛР 1: анализ лог-файла интернет-магазина">
      <a:dk1>
        <a:srgbClr val="1F2933"/>
      </a:dk1>
      <a:lt1>
        <a:srgbClr val="FAFAF7"/>
      </a:lt1>
      <a:dk2>
        <a:srgbClr val="565D64"/>
      </a:dk2>
      <a:lt2>
        <a:srgbClr val="E4E5E3"/>
      </a:lt2>
      <a:accent1>
        <a:srgbClr val="2B5CA8"/>
      </a:accent1>
      <a:accent2>
        <a:srgbClr val="5B8FD6"/>
      </a:accent2>
      <a:accent3>
        <a:srgbClr val="8FB4E8"/>
      </a:accent3>
      <a:accent4>
        <a:srgbClr val="C9D3E0"/>
      </a:accent4>
      <a:accent5>
        <a:srgbClr val="4A5568"/>
      </a:accent5>
      <a:accent6>
        <a:srgbClr val="9AA0A6"/>
      </a:accent6>
      <a:hlink>
        <a:srgbClr val="0563C1"/>
      </a:hlink>
      <a:folHlink>
        <a:srgbClr val="954F72"/>
      </a:folHlink>
    </a:clrScheme>
    <a:fontScheme name="ЛР 1: анализ лог-файла интернет-магазина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1499</TotalTime>
  <Words>118</Words>
  <Application>Microsoft Office PowerPoint</Application>
  <PresentationFormat>Широкоэкранный</PresentationFormat>
  <Paragraphs>17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5" baseType="lpstr">
      <vt:lpstr>Arial</vt:lpstr>
      <vt:lpstr>ЛР 1: анализ лог-файла интернет-магазина</vt:lpstr>
      <vt:lpstr>Ход работы</vt:lpstr>
      <vt:lpstr>Ход работы</vt:lpstr>
      <vt:lpstr>Проверка гипотез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ЛР 1: анализ лог-файла интернет-магазина</dc:title>
  <dc:creator>Admin</dc:creator>
  <cp:lastModifiedBy>Юлия Широкова</cp:lastModifiedBy>
  <cp:revision>16</cp:revision>
  <dcterms:created xsi:type="dcterms:W3CDTF">2026-10-09T13:46:00Z</dcterms:created>
  <dcterms:modified xsi:type="dcterms:W3CDTF">2026-10-31T06:02:12Z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1049-12.1.0.28485</vt:lpwstr>
  </property>
  <property fmtid="{D5CDD505-2E9C-101B-9397-08002B2CF9AE}" pid="3" name="ICV">
    <vt:lpwstr>FFCED3CFBF5D447EA0AC0CC82224C325_12</vt:lpwstr>
  </property>
</Properties>
</file>